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Quattrocento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-60" y="-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66463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2624376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OGDCL Financial Performance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37724" y="4128135"/>
            <a:ext cx="4364474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2015–2024: A Decade of Resilience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37724" y="4839057"/>
            <a:ext cx="746855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An analytical review of Pakistan’s flagship exploration and production company</a:t>
            </a:r>
            <a:endParaRPr lang="en-US" sz="1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8671" y="627459"/>
            <a:ext cx="7124105" cy="671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Market Position &amp; Operations</a:t>
            </a:r>
            <a:endParaRPr lang="en-US" sz="4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671" y="1869519"/>
            <a:ext cx="8276630" cy="55204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39657" y="2304931"/>
            <a:ext cx="3112294" cy="3355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Pakistan's Energy Flagship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9639657" y="2857976"/>
            <a:ext cx="4199692" cy="2139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Oil &amp; Gas Development Company Limited (OGDCL) is Pakistan's largest exploration and production company, accounting for 46% of domestic oil production and 28% of natural gas output.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9639657" y="5193268"/>
            <a:ext cx="4199692" cy="1782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Founded in 1961, OGDCL operates as a public limited company with majority government ownership, focused on crude oil, natural gas, and LPG extraction.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28605" y="1195149"/>
            <a:ext cx="3774043" cy="379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10-Year Financial Highlights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3128605" y="1713190"/>
            <a:ext cx="8373070" cy="158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Key metrics show OGDCL's transformation from 2015 to 2024, with revenue growth exceeding 185% and net profit more than tripling.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128605" y="1950006"/>
            <a:ext cx="2258707" cy="259289"/>
          </a:xfrm>
          <a:prstGeom prst="roundRect">
            <a:avLst>
              <a:gd name="adj" fmla="val 54309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10101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2280" y="2006994"/>
            <a:ext cx="145312" cy="1453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405972" y="1985128"/>
            <a:ext cx="1897665" cy="189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50" dirty="0">
                <a:solidFill>
                  <a:srgbClr val="F9EEE7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Sales Revenue (PKR Billions)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75463" y="1950006"/>
            <a:ext cx="1939330" cy="259289"/>
          </a:xfrm>
          <a:prstGeom prst="roundRect">
            <a:avLst>
              <a:gd name="adj" fmla="val 54309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10101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9138" y="2006994"/>
            <a:ext cx="145312" cy="1453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752830" y="1985128"/>
            <a:ext cx="1578288" cy="189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50" dirty="0">
                <a:solidFill>
                  <a:srgbClr val="F9EEE7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Net Profit (PKR Billions)</a:t>
            </a:r>
            <a:endParaRPr lang="en-US" sz="7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8605" y="2330503"/>
            <a:ext cx="8374380" cy="438105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128605" y="6717030"/>
            <a:ext cx="8373070" cy="3174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Revenue and net profit trends across the decade are best read as a side-by-side comparison of annual performance. To keep the chart accurate, the year-by-year values must be provided before plotting.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791533"/>
            <a:ext cx="7069455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Revenue Trajectory Analysis</a:t>
            </a:r>
            <a:endParaRPr lang="en-US" sz="4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24" y="2974300"/>
            <a:ext cx="4318278" cy="9575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77039" y="4171117"/>
            <a:ext cx="2928104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2015-2017: Contraction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077039" y="4666655"/>
            <a:ext cx="3839647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Revenue declined to PKR 162.8B in 2016, reflecting the global oil price downturn and stagnant production.</a:t>
            </a:r>
            <a:endParaRPr lang="en-US" sz="18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6002" y="2974300"/>
            <a:ext cx="4318278" cy="95750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95317" y="4171117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2018-2021: Stability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395317" y="4666655"/>
            <a:ext cx="3839647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Performance stabilized despite increasing circular debt pressure on the balance sheet.</a:t>
            </a:r>
            <a:endParaRPr lang="en-US" sz="18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74279" y="2974300"/>
            <a:ext cx="4318278" cy="95750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713595" y="4171117"/>
            <a:ext cx="3839647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2022-2024: Accelerated Growth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713595" y="5018603"/>
            <a:ext cx="3839647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Revenue rose by more than 100%, supported by PKR devaluation and USD-indexed energy prices.</a:t>
            </a:r>
            <a:endParaRPr lang="en-US" sz="1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905238"/>
            <a:ext cx="8147923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Profitability &amp; Efficiency Metrics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3207663"/>
            <a:ext cx="3014305" cy="789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200"/>
              </a:lnSpc>
              <a:buNone/>
            </a:pPr>
            <a:r>
              <a:rPr lang="en-US" sz="6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45%</a:t>
            </a:r>
            <a:endParaRPr lang="en-US" sz="6200" dirty="0"/>
          </a:p>
        </p:txBody>
      </p:sp>
      <p:sp>
        <p:nvSpPr>
          <p:cNvPr id="4" name="Text 2"/>
          <p:cNvSpPr/>
          <p:nvPr/>
        </p:nvSpPr>
        <p:spPr>
          <a:xfrm>
            <a:off x="936784" y="4296608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Net Profit Margin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37724" y="4792147"/>
            <a:ext cx="3014305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Maintained near 45% over 10 years, supported by a low-cost production structure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4151233" y="3207663"/>
            <a:ext cx="3014305" cy="789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200"/>
              </a:lnSpc>
              <a:buNone/>
            </a:pPr>
            <a:r>
              <a:rPr lang="en-US" sz="6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3.1x</a:t>
            </a:r>
            <a:endParaRPr lang="en-US" sz="6200" dirty="0"/>
          </a:p>
        </p:txBody>
      </p:sp>
      <p:sp>
        <p:nvSpPr>
          <p:cNvPr id="7" name="Text 5"/>
          <p:cNvSpPr/>
          <p:nvPr/>
        </p:nvSpPr>
        <p:spPr>
          <a:xfrm>
            <a:off x="4172188" y="4296608"/>
            <a:ext cx="2972276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Price-to-Earnings Ratio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151233" y="4792147"/>
            <a:ext cx="3014305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Current valuation of 3.1x, down from 6.5x in 2015, reflecting stronger earnings performance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7464743" y="3207663"/>
            <a:ext cx="3014305" cy="789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200"/>
              </a:lnSpc>
              <a:buNone/>
            </a:pPr>
            <a:r>
              <a:rPr lang="en-US" sz="6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19.6%</a:t>
            </a:r>
            <a:endParaRPr lang="en-US" sz="6200" dirty="0"/>
          </a:p>
        </p:txBody>
      </p:sp>
      <p:sp>
        <p:nvSpPr>
          <p:cNvPr id="10" name="Text 8"/>
          <p:cNvSpPr/>
          <p:nvPr/>
        </p:nvSpPr>
        <p:spPr>
          <a:xfrm>
            <a:off x="7563803" y="4296608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Return on Equity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464743" y="4792147"/>
            <a:ext cx="3014305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ROE declined from 28.2% as the equity base grew faster than net income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10778252" y="3207663"/>
            <a:ext cx="3014424" cy="789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200"/>
              </a:lnSpc>
              <a:buNone/>
            </a:pPr>
            <a:r>
              <a:rPr lang="en-US" sz="6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4.67x</a:t>
            </a:r>
            <a:endParaRPr lang="en-US" sz="6200" dirty="0"/>
          </a:p>
        </p:txBody>
      </p:sp>
      <p:sp>
        <p:nvSpPr>
          <p:cNvPr id="13" name="Text 11"/>
          <p:cNvSpPr/>
          <p:nvPr/>
        </p:nvSpPr>
        <p:spPr>
          <a:xfrm>
            <a:off x="10877312" y="4296608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Current Ratio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778252" y="4792147"/>
            <a:ext cx="3014424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Liquidity improved materially, rising from 2.8x in 2018 to 4.67x in 2024</a:t>
            </a:r>
            <a:endParaRPr lang="en-US" sz="1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1082635"/>
            <a:ext cx="6085046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Balance Sheet Evolution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37724" y="2145625"/>
            <a:ext cx="239316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 Light" pitchFamily="34" charset="0"/>
                <a:ea typeface="Quattrocento Light" pitchFamily="34" charset="-122"/>
                <a:cs typeface="Quattrocento Light" pitchFamily="34" charset="-120"/>
              </a:rPr>
              <a:t>01</a:t>
            </a:r>
            <a:endParaRPr lang="en-US" sz="1850" dirty="0"/>
          </a:p>
        </p:txBody>
      </p:sp>
      <p:sp>
        <p:nvSpPr>
          <p:cNvPr id="5" name="Shape 2"/>
          <p:cNvSpPr/>
          <p:nvPr/>
        </p:nvSpPr>
        <p:spPr>
          <a:xfrm>
            <a:off x="837724" y="2521982"/>
            <a:ext cx="3614618" cy="30480"/>
          </a:xfrm>
          <a:prstGeom prst="rect">
            <a:avLst/>
          </a:prstGeom>
          <a:solidFill>
            <a:srgbClr val="EF9C82"/>
          </a:solidFill>
          <a:ln/>
        </p:spPr>
      </p:sp>
      <p:sp>
        <p:nvSpPr>
          <p:cNvPr id="6" name="Text 3"/>
          <p:cNvSpPr/>
          <p:nvPr/>
        </p:nvSpPr>
        <p:spPr>
          <a:xfrm>
            <a:off x="837724" y="2702600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Total Assets Growth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837724" y="3198138"/>
            <a:ext cx="3614618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Expanded from PKR 485.2B in 2015 to PKR 1,245.3B in 2024, representing 157% growth over the decade.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4691658" y="2145625"/>
            <a:ext cx="239316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 Light" pitchFamily="34" charset="0"/>
                <a:ea typeface="Quattrocento Light" pitchFamily="34" charset="-122"/>
                <a:cs typeface="Quattrocento Light" pitchFamily="34" charset="-120"/>
              </a:rPr>
              <a:t>02</a:t>
            </a:r>
            <a:endParaRPr lang="en-US" sz="1850" dirty="0"/>
          </a:p>
        </p:txBody>
      </p:sp>
      <p:sp>
        <p:nvSpPr>
          <p:cNvPr id="9" name="Shape 6"/>
          <p:cNvSpPr/>
          <p:nvPr/>
        </p:nvSpPr>
        <p:spPr>
          <a:xfrm>
            <a:off x="4691658" y="2521982"/>
            <a:ext cx="3614618" cy="30480"/>
          </a:xfrm>
          <a:prstGeom prst="rect">
            <a:avLst/>
          </a:prstGeom>
          <a:solidFill>
            <a:srgbClr val="EF9C82"/>
          </a:solidFill>
          <a:ln/>
        </p:spPr>
      </p:sp>
      <p:sp>
        <p:nvSpPr>
          <p:cNvPr id="10" name="Text 7"/>
          <p:cNvSpPr/>
          <p:nvPr/>
        </p:nvSpPr>
        <p:spPr>
          <a:xfrm>
            <a:off x="4691658" y="2702600"/>
            <a:ext cx="2839760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Equity Base Expansion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4691658" y="3198138"/>
            <a:ext cx="3614618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Shareholder equity increased from PKR 388.9B to PKR 1,065.2B, supported by retained earnings and sustained value creation.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837724" y="5148977"/>
            <a:ext cx="239316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 Light" pitchFamily="34" charset="0"/>
                <a:ea typeface="Quattrocento Light" pitchFamily="34" charset="-122"/>
                <a:cs typeface="Quattrocento Light" pitchFamily="34" charset="-120"/>
              </a:rPr>
              <a:t>03</a:t>
            </a:r>
            <a:endParaRPr lang="en-US" sz="1850" dirty="0"/>
          </a:p>
        </p:txBody>
      </p:sp>
      <p:sp>
        <p:nvSpPr>
          <p:cNvPr id="13" name="Shape 10"/>
          <p:cNvSpPr/>
          <p:nvPr/>
        </p:nvSpPr>
        <p:spPr>
          <a:xfrm>
            <a:off x="837724" y="5525333"/>
            <a:ext cx="7468553" cy="30480"/>
          </a:xfrm>
          <a:prstGeom prst="rect">
            <a:avLst/>
          </a:prstGeom>
          <a:solidFill>
            <a:srgbClr val="EF9C82"/>
          </a:solidFill>
          <a:ln/>
        </p:spPr>
      </p:sp>
      <p:sp>
        <p:nvSpPr>
          <p:cNvPr id="14" name="Text 11"/>
          <p:cNvSpPr/>
          <p:nvPr/>
        </p:nvSpPr>
        <p:spPr>
          <a:xfrm>
            <a:off x="837724" y="5705951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Zero Long-Term Debt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837724" y="6201489"/>
            <a:ext cx="746855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Maintained a debt-free capital structure throughout the period, preserving financial flexibility and balance sheet strength.</a:t>
            </a:r>
            <a:endParaRPr lang="en-US" sz="1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495901"/>
            <a:ext cx="5850731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Operational Excellence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2798207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Cost Leadership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7724" y="3389471"/>
            <a:ext cx="8216265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OGDCL remains Pakistan's lowest-cost oil and gas producer. Success in new discoveries, including Wali and Bettani, has offset natural decline in mature fields such as Qadirpur.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37724" y="4777859"/>
            <a:ext cx="3011448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Circular Debt Challenge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37724" y="5369123"/>
            <a:ext cx="8216265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Trade receivables exceeding PKR 600 billion reflect amounts owed by refineries and gas companies, constraining cash conversion despite record-high paper profits.</a:t>
            </a:r>
            <a:endParaRPr lang="en-US" sz="18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5491" y="3260646"/>
            <a:ext cx="4154686" cy="277106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917853"/>
            <a:ext cx="7051477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Key Performance Indicators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424940" y="3656528"/>
            <a:ext cx="2944297" cy="598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700"/>
              </a:lnSpc>
              <a:buNone/>
            </a:pPr>
            <a:r>
              <a:rPr lang="en-US" sz="47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46%</a:t>
            </a:r>
            <a:endParaRPr lang="en-US" sz="4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04" y="2160389"/>
            <a:ext cx="3590687" cy="359068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88996" y="6050161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Oil Production Share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837724" y="6545699"/>
            <a:ext cx="4118848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OGDCL's contribution to national crude oil output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5842992" y="3656528"/>
            <a:ext cx="2944297" cy="598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700"/>
              </a:lnSpc>
              <a:buNone/>
            </a:pPr>
            <a:r>
              <a:rPr lang="en-US" sz="47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28%</a:t>
            </a:r>
            <a:endParaRPr lang="en-US" sz="47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9857" y="2160389"/>
            <a:ext cx="3590687" cy="359068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907048" y="6050161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Gas Production Share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255776" y="6545699"/>
            <a:ext cx="4118848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Company's share of domestic natural gas production</a:t>
            </a:r>
            <a:endParaRPr lang="en-US" sz="1850" dirty="0"/>
          </a:p>
        </p:txBody>
      </p:sp>
      <p:sp>
        <p:nvSpPr>
          <p:cNvPr id="11" name="Text 7"/>
          <p:cNvSpPr/>
          <p:nvPr/>
        </p:nvSpPr>
        <p:spPr>
          <a:xfrm>
            <a:off x="10261044" y="3656528"/>
            <a:ext cx="2944297" cy="598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700"/>
              </a:lnSpc>
              <a:buNone/>
            </a:pPr>
            <a:r>
              <a:rPr lang="en-US" sz="47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48.59</a:t>
            </a:r>
            <a:endParaRPr lang="en-US" sz="47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37909" y="2160389"/>
            <a:ext cx="3590687" cy="359068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325100" y="6050161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Earnings Per Share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9673828" y="6545699"/>
            <a:ext cx="4118848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EPS reached PKR 48.59 in 2023-24, up from 13.94 in 2015-16</a:t>
            </a:r>
            <a:endParaRPr lang="en-US" sz="1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239804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Critical Watch Metrics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37724" y="3422571"/>
            <a:ext cx="4158734" cy="2567226"/>
          </a:xfrm>
          <a:prstGeom prst="roundRect">
            <a:avLst>
              <a:gd name="adj" fmla="val 5699"/>
            </a:avLst>
          </a:prstGeom>
          <a:solidFill>
            <a:srgbClr val="123332"/>
          </a:solidFill>
          <a:ln w="30480">
            <a:solidFill>
              <a:srgbClr val="43895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7244" y="3422571"/>
            <a:ext cx="121920" cy="2567226"/>
          </a:xfrm>
          <a:prstGeom prst="roundRect">
            <a:avLst>
              <a:gd name="adj" fmla="val 29451"/>
            </a:avLst>
          </a:prstGeom>
          <a:solidFill>
            <a:srgbClr val="438951"/>
          </a:solidFill>
          <a:ln/>
        </p:spPr>
      </p:sp>
      <p:sp>
        <p:nvSpPr>
          <p:cNvPr id="5" name="Text 3"/>
          <p:cNvSpPr/>
          <p:nvPr/>
        </p:nvSpPr>
        <p:spPr>
          <a:xfrm>
            <a:off x="1198959" y="3692366"/>
            <a:ext cx="3031450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Trade Debts &gt; PKR 600B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98959" y="4187904"/>
            <a:ext cx="3527703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Circular debt continues to increase, constraining cash conversion despite strong reported profitability.</a:t>
            </a:r>
            <a:endParaRPr lang="en-US" sz="1850" dirty="0"/>
          </a:p>
        </p:txBody>
      </p:sp>
      <p:sp>
        <p:nvSpPr>
          <p:cNvPr id="7" name="Shape 5"/>
          <p:cNvSpPr/>
          <p:nvPr/>
        </p:nvSpPr>
        <p:spPr>
          <a:xfrm>
            <a:off x="5235773" y="3422571"/>
            <a:ext cx="4158734" cy="2567226"/>
          </a:xfrm>
          <a:prstGeom prst="roundRect">
            <a:avLst>
              <a:gd name="adj" fmla="val 5699"/>
            </a:avLst>
          </a:prstGeom>
          <a:solidFill>
            <a:srgbClr val="123332"/>
          </a:solidFill>
          <a:ln w="30480">
            <a:solidFill>
              <a:srgbClr val="4A644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205293" y="3422571"/>
            <a:ext cx="121920" cy="2567226"/>
          </a:xfrm>
          <a:prstGeom prst="roundRect">
            <a:avLst>
              <a:gd name="adj" fmla="val 29451"/>
            </a:avLst>
          </a:prstGeom>
          <a:solidFill>
            <a:srgbClr val="4A644E"/>
          </a:solidFill>
          <a:ln/>
        </p:spPr>
      </p:sp>
      <p:sp>
        <p:nvSpPr>
          <p:cNvPr id="9" name="Text 7"/>
          <p:cNvSpPr/>
          <p:nvPr/>
        </p:nvSpPr>
        <p:spPr>
          <a:xfrm>
            <a:off x="5597009" y="3692366"/>
            <a:ext cx="3110270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USD-PKR Exchange Rate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597009" y="4187904"/>
            <a:ext cx="3527703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PKR depreciation supports revenue growth but introduces volatility in financial planning.</a:t>
            </a:r>
            <a:endParaRPr lang="en-US" sz="1850" dirty="0"/>
          </a:p>
        </p:txBody>
      </p:sp>
      <p:sp>
        <p:nvSpPr>
          <p:cNvPr id="11" name="Shape 9"/>
          <p:cNvSpPr/>
          <p:nvPr/>
        </p:nvSpPr>
        <p:spPr>
          <a:xfrm>
            <a:off x="9633823" y="3422571"/>
            <a:ext cx="4158853" cy="2567226"/>
          </a:xfrm>
          <a:prstGeom prst="roundRect">
            <a:avLst>
              <a:gd name="adj" fmla="val 5699"/>
            </a:avLst>
          </a:prstGeom>
          <a:solidFill>
            <a:srgbClr val="123332"/>
          </a:solidFill>
          <a:ln w="30480">
            <a:solidFill>
              <a:srgbClr val="43895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03343" y="3422571"/>
            <a:ext cx="121920" cy="2567226"/>
          </a:xfrm>
          <a:prstGeom prst="roundRect">
            <a:avLst>
              <a:gd name="adj" fmla="val 29451"/>
            </a:avLst>
          </a:prstGeom>
          <a:solidFill>
            <a:srgbClr val="438951"/>
          </a:solidFill>
          <a:ln/>
        </p:spPr>
      </p:sp>
      <p:sp>
        <p:nvSpPr>
          <p:cNvPr id="13" name="Text 11"/>
          <p:cNvSpPr/>
          <p:nvPr/>
        </p:nvSpPr>
        <p:spPr>
          <a:xfrm>
            <a:off x="9995059" y="3692366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New Discoveries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995059" y="4187904"/>
            <a:ext cx="3527822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Wali and Bettani fields must offset decline in mature assets to sustain production volumes.</a:t>
            </a:r>
            <a:endParaRPr lang="en-US" sz="1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2214" y="1051798"/>
            <a:ext cx="5350073" cy="668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Executive Summary</a:t>
            </a:r>
            <a:endParaRPr lang="en-US" sz="4200" dirty="0"/>
          </a:p>
        </p:txBody>
      </p:sp>
      <p:sp>
        <p:nvSpPr>
          <p:cNvPr id="4" name="Shape 1"/>
          <p:cNvSpPr/>
          <p:nvPr/>
        </p:nvSpPr>
        <p:spPr>
          <a:xfrm>
            <a:off x="6282214" y="2044541"/>
            <a:ext cx="3668197" cy="2337197"/>
          </a:xfrm>
          <a:prstGeom prst="roundRect">
            <a:avLst>
              <a:gd name="adj" fmla="val 1459"/>
            </a:avLst>
          </a:prstGeom>
          <a:solidFill>
            <a:srgbClr val="315251"/>
          </a:solidFill>
          <a:ln/>
        </p:spPr>
      </p:sp>
      <p:sp>
        <p:nvSpPr>
          <p:cNvPr id="5" name="Text 2"/>
          <p:cNvSpPr/>
          <p:nvPr/>
        </p:nvSpPr>
        <p:spPr>
          <a:xfrm>
            <a:off x="6509504" y="2271832"/>
            <a:ext cx="2674977" cy="334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Financial Strength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6509504" y="2735699"/>
            <a:ext cx="3213616" cy="1418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Zero long-term debt, a robust equity base, and sustained profitability demonstrate financial resilience.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166390" y="2044541"/>
            <a:ext cx="3668197" cy="2337197"/>
          </a:xfrm>
          <a:prstGeom prst="roundRect">
            <a:avLst>
              <a:gd name="adj" fmla="val 1459"/>
            </a:avLst>
          </a:prstGeom>
          <a:solidFill>
            <a:srgbClr val="315251"/>
          </a:solidFill>
          <a:ln/>
        </p:spPr>
      </p:sp>
      <p:sp>
        <p:nvSpPr>
          <p:cNvPr id="8" name="Text 5"/>
          <p:cNvSpPr/>
          <p:nvPr/>
        </p:nvSpPr>
        <p:spPr>
          <a:xfrm>
            <a:off x="10393680" y="2271832"/>
            <a:ext cx="2685217" cy="334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Operational Efficiency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0393680" y="2735699"/>
            <a:ext cx="3213616" cy="1418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Industry-leading margins and a disciplined cost structure position OGDCL as Pakistan's leading E&amp;P operator.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2214" y="4597718"/>
            <a:ext cx="7552373" cy="1627822"/>
          </a:xfrm>
          <a:prstGeom prst="roundRect">
            <a:avLst>
              <a:gd name="adj" fmla="val 2095"/>
            </a:avLst>
          </a:prstGeom>
          <a:solidFill>
            <a:srgbClr val="315251"/>
          </a:solidFill>
          <a:ln/>
        </p:spPr>
      </p:sp>
      <p:sp>
        <p:nvSpPr>
          <p:cNvPr id="11" name="Text 8"/>
          <p:cNvSpPr/>
          <p:nvPr/>
        </p:nvSpPr>
        <p:spPr>
          <a:xfrm>
            <a:off x="6509504" y="4825008"/>
            <a:ext cx="2674977" cy="334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Cash Conversion Risk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6509504" y="5288875"/>
            <a:ext cx="7097792" cy="709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Circular debt exceeding PKR 600 billion remains the primary constraint on converting paper profits into cash.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6282214" y="6468428"/>
            <a:ext cx="7552373" cy="709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Analyst Recommendation:</a:t>
            </a:r>
            <a:r>
              <a:rPr lang="en-US" sz="1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Monitor trade debt trends and circular debt resolution policies as key indicators of future cash generation potential.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610</Words>
  <Application>Microsoft Office PowerPoint</Application>
  <PresentationFormat>Custom</PresentationFormat>
  <Paragraphs>82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Calibri</vt:lpstr>
      <vt:lpstr>-apple-system, BlinkMacSystemFont, Segoe UI, Roboto, Helvetica Neue, Arial, sans-serif Medium</vt:lpstr>
      <vt:lpstr>Quattrocento</vt:lpstr>
      <vt:lpstr>Arial</vt:lpstr>
      <vt:lpstr>Quattrocento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Ajwa Hashmi</dc:creator>
  <cp:lastModifiedBy>Ajwa Hashmi</cp:lastModifiedBy>
  <cp:revision>2</cp:revision>
  <dcterms:created xsi:type="dcterms:W3CDTF">2026-03-27T16:30:43Z</dcterms:created>
  <dcterms:modified xsi:type="dcterms:W3CDTF">2026-03-27T16:49:21Z</dcterms:modified>
</cp:coreProperties>
</file>